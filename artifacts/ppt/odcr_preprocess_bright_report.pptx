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EA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FFF2EC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438912"/>
            <a:ext cx="1463040" cy="329184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48056"/>
            <a:ext cx="1408176" cy="3017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ODCR 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14400"/>
            <a:ext cx="71323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3000" b="1" i="0">
                <a:solidFill>
                  <a:srgbClr val="1E2A46"/>
                </a:solidFill>
                <a:latin typeface="Microsoft YaHei"/>
              </a:defRPr>
            </a:pPr>
            <a:r>
              <a:t>第一次阶段汇报：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2600" b="1" i="0">
                <a:solidFill>
                  <a:srgbClr val="1E2A46"/>
                </a:solidFill>
                <a:latin typeface="Microsoft YaHei"/>
              </a:defRPr>
            </a:pPr>
            <a:r>
              <a:t>证据锚定与内容 / 风格双通道预处理资产构建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从 D4C 的原始文本预处理，推进到 ODCR 的显式证据锚定预处理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34640"/>
            <a:ext cx="6949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834640"/>
            <a:ext cx="82296" cy="1417320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944368"/>
            <a:ext cx="6693408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一句话摘要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本次汇报聚焦 ODCR 的预处理阶段，核心目标是把原始 review / explanation 文本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升级为可供后续 shared / specific 解耦学习的证据资产。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05840"/>
            <a:ext cx="33832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005840"/>
            <a:ext cx="82296" cy="3246120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115568"/>
            <a:ext cx="3127248" cy="3063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汇报信息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课题：ODCR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汇报人：zhangliml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日期：2026-04-22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文稿来源：新建 文本文档.txt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5989320"/>
            <a:ext cx="1097280" cy="310896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FFF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40112" y="5998464"/>
            <a:ext cx="1042416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01/13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EE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601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E2A46"/>
                </a:solidFill>
                <a:latin typeface="Microsoft YaHei"/>
              </a:defRPr>
            </a:pPr>
            <a:r>
              <a:t>ODCR 整体创新链总览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9966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从 D4C 的 domain counterfactual augmentation，推进到“证据锚定—解耦表征—可靠性路由—受控生成”的完整链条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329184"/>
            <a:ext cx="932688" cy="310896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F4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24744" y="338328"/>
            <a:ext cx="877824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02/13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212140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72768"/>
            <a:ext cx="82296" cy="2971800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682496"/>
            <a:ext cx="1865376" cy="2788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Preprocess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主创新：EASD 的证据锚点层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辅创新：HSS 的风格先验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作用：给样本显式打出内容证据与风格证据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为后续 shared / specific 解耦提供输入来源</a:t>
            </a:r>
          </a:p>
        </p:txBody>
      </p:sp>
      <p:sp>
        <p:nvSpPr>
          <p:cNvPr id="13" name="Chevron 12"/>
          <p:cNvSpPr/>
          <p:nvPr/>
        </p:nvSpPr>
        <p:spPr>
          <a:xfrm>
            <a:off x="2642616" y="2761488"/>
            <a:ext cx="256032" cy="201168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34056" y="1572768"/>
            <a:ext cx="212140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34056" y="1572768"/>
            <a:ext cx="82296" cy="2971800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1682496"/>
            <a:ext cx="1865376" cy="2788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Step3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主创新：EASD 的表征实现层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辅创新：HSS 的层级风格结构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作用：将内容与风格映射到 shared / specific 两个空间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用结构化约束提升解耦效果</a:t>
            </a:r>
          </a:p>
        </p:txBody>
      </p:sp>
      <p:sp>
        <p:nvSpPr>
          <p:cNvPr id="17" name="Chevron 16"/>
          <p:cNvSpPr/>
          <p:nvPr/>
        </p:nvSpPr>
        <p:spPr>
          <a:xfrm>
            <a:off x="4873752" y="2761488"/>
            <a:ext cx="256032" cy="201168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65192" y="1572768"/>
            <a:ext cx="212140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65192" y="1572768"/>
            <a:ext cx="82296" cy="2971800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9784" y="1682496"/>
            <a:ext cx="1865376" cy="2788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Step4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主创新：RCR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辅创新：UCI 元数据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作用：评估反事实样本是否可靠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决定样本送往评分路径还是解释路径</a:t>
            </a:r>
          </a:p>
        </p:txBody>
      </p:sp>
      <p:sp>
        <p:nvSpPr>
          <p:cNvPr id="21" name="Chevron 20"/>
          <p:cNvSpPr/>
          <p:nvPr/>
        </p:nvSpPr>
        <p:spPr>
          <a:xfrm>
            <a:off x="7104888" y="2761488"/>
            <a:ext cx="256032" cy="201168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96328" y="1572768"/>
            <a:ext cx="212140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96328" y="1572768"/>
            <a:ext cx="82296" cy="2971800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1682496"/>
            <a:ext cx="1865376" cy="2788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Step5A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主创新：LCI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作用：让评分主要依赖 shared 内容信息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在反事实扰动下保持评分稳定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降低风格噪声对推荐结果的干扰</a:t>
            </a:r>
          </a:p>
        </p:txBody>
      </p:sp>
      <p:sp>
        <p:nvSpPr>
          <p:cNvPr id="25" name="Chevron 24"/>
          <p:cNvSpPr/>
          <p:nvPr/>
        </p:nvSpPr>
        <p:spPr>
          <a:xfrm>
            <a:off x="9336024" y="2761488"/>
            <a:ext cx="256032" cy="201168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27464" y="1572768"/>
            <a:ext cx="212140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27464" y="1572768"/>
            <a:ext cx="82296" cy="2971800"/>
          </a:xfrm>
          <a:prstGeom prst="rect">
            <a:avLst/>
          </a:prstGeom>
          <a:solidFill>
            <a:srgbClr val="D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92056" y="1682496"/>
            <a:ext cx="1865376" cy="2788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Step5B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主创新：CCV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配套辅创新：UCI / FCA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作用：区分“说什么”和“怎么说”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D6B8A"/>
                </a:solidFill>
                <a:latin typeface="Microsoft YaHei"/>
              </a:defRPr>
            </a:pPr>
            <a:r>
              <a:t>让解释尽量与评分依赖的证据保持一致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983480"/>
            <a:ext cx="10972800" cy="91440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983480"/>
            <a:ext cx="82296" cy="914400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93208"/>
            <a:ext cx="10716768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一句话总结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ODCR 的整体逻辑是：Preprocess 打锚点，Step3 做解耦，Step4 做可靠性路由，Step5A 保评分稳定，Step5B 做受控解释生成。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因此第一次先讲 preprocess，因为后续所有模块都以前面的证据锚点为输入前提。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EE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F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F4F1FF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601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E2A46"/>
                </a:solidFill>
                <a:latin typeface="Microsoft YaHei"/>
              </a:defRPr>
            </a:pPr>
            <a:r>
              <a:t>本次汇报回答 3 个问题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9966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从原始 D4C 到 ODCR 预处理资产化的最小闭环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329184"/>
            <a:ext cx="932688" cy="310896"/>
          </a:xfrm>
          <a:prstGeom prst="roundRect">
            <a:avLst/>
          </a:prstGeom>
          <a:solidFill>
            <a:srgbClr val="EEFBF7"/>
          </a:solidFill>
          <a:ln w="12700">
            <a:solidFill>
              <a:srgbClr val="EE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24744" y="338328"/>
            <a:ext cx="877824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03/13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371600"/>
            <a:ext cx="3675887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371600"/>
            <a:ext cx="82296" cy="3749039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81328"/>
            <a:ext cx="3419855" cy="35661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 i="0">
                <a:solidFill>
                  <a:srgbClr val="1E2A46"/>
                </a:solidFill>
                <a:latin typeface="Microsoft YaHei"/>
              </a:defRPr>
            </a:pPr>
            <a:r>
              <a:t>Q1. 原始 D4C 的预处理怎么做？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review / explanation 提取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5-core 过滤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生成 processed.csv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没有显式证据锚点层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5423" y="1371600"/>
            <a:ext cx="3675887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3" y="1371600"/>
            <a:ext cx="82296" cy="3749039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5" y="1481328"/>
            <a:ext cx="3419855" cy="35661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 i="0">
                <a:solidFill>
                  <a:srgbClr val="1E2A46"/>
                </a:solidFill>
                <a:latin typeface="Microsoft YaHei"/>
              </a:defRPr>
            </a:pPr>
            <a:r>
              <a:t>Q2. ODCR 的预处理改了什么？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新增内容锚点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新增风格锚点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新增 evidence quality 与 route 先验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形成 content/style 双通道输入资产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78" y="1371600"/>
            <a:ext cx="3675887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78" y="1371600"/>
            <a:ext cx="82296" cy="3749039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0" y="1481328"/>
            <a:ext cx="3419855" cy="35661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 i="0">
                <a:solidFill>
                  <a:srgbClr val="1E2A46"/>
                </a:solidFill>
                <a:latin typeface="Microsoft YaHei"/>
              </a:defRPr>
            </a:pPr>
            <a:r>
              <a:t>Q3. 这些资产后面怎么被用？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split / combine 保真传递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compute_embeddings 构成 user / item 双通道画像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infer_domain_semantics 构成 domain 双通道语义原型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为 Step3 的 shared / specific 解耦做准备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468112"/>
            <a:ext cx="10972800" cy="64008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5468112"/>
            <a:ext cx="82296" cy="640080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577840"/>
            <a:ext cx="1071676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600" b="1" i="0">
                <a:solidFill>
                  <a:srgbClr val="1E2A46"/>
                </a:solidFill>
                <a:latin typeface="Microsoft YaHei"/>
              </a:defRPr>
            </a:pPr>
            <a:r>
              <a:t>收口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这一讲不是讲模型训练，而是回答“后续模型为什么能分得开”。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EAF6FF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601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E2A46"/>
                </a:solidFill>
                <a:latin typeface="Microsoft YaHei"/>
              </a:defRPr>
            </a:pPr>
            <a:r>
              <a:t>原始 D4C 的预处理：原始文本进入后续模型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9966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左侧看流程，右侧看局限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329184"/>
            <a:ext cx="932688" cy="310896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FFF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24744" y="338328"/>
            <a:ext cx="877824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04/13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371600"/>
            <a:ext cx="47548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371600"/>
            <a:ext cx="82296" cy="4251960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81328"/>
            <a:ext cx="4498848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 i="0">
                <a:solidFill>
                  <a:srgbClr val="1E2A46"/>
                </a:solidFill>
                <a:latin typeface="Microsoft YaHei"/>
              </a:defRPr>
            </a:pPr>
            <a:r>
              <a:t>原始流程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800" b="0" i="0">
                <a:solidFill>
                  <a:srgbClr val="5D6B8A"/>
                </a:solidFill>
                <a:latin typeface="Microsoft YaHei"/>
              </a:defRPr>
            </a:pPr>
            <a:r>
              <a:t>raw reviews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800" b="0" i="0">
                <a:solidFill>
                  <a:srgbClr val="5D6B8A"/>
                </a:solidFill>
                <a:latin typeface="Microsoft YaHei"/>
              </a:defRPr>
            </a:pPr>
            <a:r>
              <a:t>抽取 review / explanation / rating / user / item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800" b="0" i="0">
                <a:solidFill>
                  <a:srgbClr val="5D6B8A"/>
                </a:solidFill>
                <a:latin typeface="Microsoft YaHei"/>
              </a:defRPr>
            </a:pPr>
            <a:r>
              <a:t>5-core 过滤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800" b="0" i="0">
                <a:solidFill>
                  <a:srgbClr val="5D6B8A"/>
                </a:solidFill>
                <a:latin typeface="Microsoft YaHei"/>
              </a:defRPr>
            </a:pPr>
            <a:r>
              <a:t>processed.csv</a:t>
            </a:r>
          </a:p>
        </p:txBody>
      </p:sp>
      <p:sp>
        <p:nvSpPr>
          <p:cNvPr id="13" name="Chevron 12"/>
          <p:cNvSpPr/>
          <p:nvPr/>
        </p:nvSpPr>
        <p:spPr>
          <a:xfrm>
            <a:off x="2624328" y="2103120"/>
            <a:ext cx="329184" cy="237744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624328" y="2944368"/>
            <a:ext cx="329184" cy="237744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2624328" y="3785615"/>
            <a:ext cx="329184" cy="237744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50992" y="1371600"/>
            <a:ext cx="5989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50992" y="1371600"/>
            <a:ext cx="82296" cy="4251960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15584" y="1481328"/>
            <a:ext cx="5733288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 i="0">
                <a:solidFill>
                  <a:srgbClr val="1E2A46"/>
                </a:solidFill>
                <a:latin typeface="Microsoft YaHei"/>
              </a:defRPr>
            </a:pPr>
            <a:r>
              <a:t>原始 D4C 的特点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5D6B8A"/>
                </a:solidFill>
                <a:latin typeface="Microsoft YaHei"/>
              </a:defRPr>
            </a:pPr>
            <a:r>
              <a:t>预处理目标主要是“清洗与成表”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5D6B8A"/>
                </a:solidFill>
                <a:latin typeface="Microsoft YaHei"/>
              </a:defRPr>
            </a:pPr>
            <a:r>
              <a:t>没有显式 content evidence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5D6B8A"/>
                </a:solidFill>
                <a:latin typeface="Microsoft YaHei"/>
              </a:defRPr>
            </a:pPr>
            <a:r>
              <a:t>没有显式 style evidence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5D6B8A"/>
                </a:solidFill>
                <a:latin typeface="Microsoft YaHei"/>
              </a:defRPr>
            </a:pPr>
            <a:r>
              <a:t>没有 polarity anchor / local residual 等强语义资产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5D6B8A"/>
                </a:solidFill>
                <a:latin typeface="Microsoft YaHei"/>
              </a:defRPr>
            </a:pPr>
            <a:r>
              <a:t>本质还是“文本直接喂模型”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32120"/>
            <a:ext cx="10972800" cy="658368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5532120"/>
            <a:ext cx="82296" cy="658368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41848"/>
            <a:ext cx="10716768" cy="4754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1E2A46"/>
                </a:solidFill>
                <a:latin typeface="Microsoft YaHei"/>
              </a:defRPr>
            </a:pPr>
            <a:r>
              <a:t>依据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原论文 D4C 的核心是 text attributes + domain counterfactual + factual/counterfactual joint training，而不是在预处理阶段显式构造 shared / specific 证据锚点。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F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EA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EEFBF7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601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E2A46"/>
                </a:solidFill>
                <a:latin typeface="Microsoft YaHei"/>
              </a:defRPr>
            </a:pPr>
            <a:r>
              <a:t>为什么原始预处理不够？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9966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把问题、后果和必要改动放在同一页说明白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329184"/>
            <a:ext cx="932688" cy="310896"/>
          </a:xfrm>
          <a:prstGeom prst="roundRect">
            <a:avLst/>
          </a:prstGeom>
          <a:solidFill>
            <a:srgbClr val="FFF2EC"/>
          </a:solidFill>
          <a:ln w="12700">
            <a:solidFill>
              <a:srgbClr val="F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24744" y="338328"/>
            <a:ext cx="877824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05/13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8016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280160"/>
            <a:ext cx="82296" cy="1051560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89888"/>
            <a:ext cx="481888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问题 1：内容和风格混在同一段文本里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例子：房间很大，真的很舒服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“大”更偏内容属性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“真的很舒服”更偏表达风格 / 口吻</a:t>
            </a:r>
          </a:p>
        </p:txBody>
      </p:sp>
      <p:sp>
        <p:nvSpPr>
          <p:cNvPr id="13" name="Chevron 12"/>
          <p:cNvSpPr/>
          <p:nvPr/>
        </p:nvSpPr>
        <p:spPr>
          <a:xfrm>
            <a:off x="5852160" y="1572768"/>
            <a:ext cx="365760" cy="256032"/>
          </a:xfrm>
          <a:prstGeom prst="chevron">
            <a:avLst/>
          </a:prstGeom>
          <a:solidFill>
            <a:srgbClr val="FFF9E6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280160"/>
            <a:ext cx="5303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280160"/>
            <a:ext cx="82296" cy="1051560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389888"/>
            <a:ext cx="504748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后果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后果：内容与风格信号纠缠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后续 shared / specific 难以稳定分开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606039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2606039"/>
            <a:ext cx="82296" cy="1051560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715767"/>
            <a:ext cx="481888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问题 2：如果不提前打锚点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后续模型只能自己猜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哪些部分是 item / content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哪些部分是 style / domain expression</a:t>
            </a:r>
          </a:p>
        </p:txBody>
      </p:sp>
      <p:sp>
        <p:nvSpPr>
          <p:cNvPr id="20" name="Chevron 19"/>
          <p:cNvSpPr/>
          <p:nvPr/>
        </p:nvSpPr>
        <p:spPr>
          <a:xfrm>
            <a:off x="5852160" y="2898647"/>
            <a:ext cx="365760" cy="256032"/>
          </a:xfrm>
          <a:prstGeom prst="chevron">
            <a:avLst/>
          </a:prstGeom>
          <a:solidFill>
            <a:srgbClr val="FFF9E6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2606039"/>
            <a:ext cx="5303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606039"/>
            <a:ext cx="82296" cy="1051560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715767"/>
            <a:ext cx="504748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后果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后果：监督来源不明确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解耦只能依赖隐式学习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93192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931920"/>
            <a:ext cx="82296" cy="1051560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41648"/>
            <a:ext cx="481888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问题 3：只靠后续模型自动学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shared / specific 容易混淆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风格可能污染评分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后续解耦缺少证据来源</a:t>
            </a:r>
          </a:p>
        </p:txBody>
      </p:sp>
      <p:sp>
        <p:nvSpPr>
          <p:cNvPr id="27" name="Chevron 26"/>
          <p:cNvSpPr/>
          <p:nvPr/>
        </p:nvSpPr>
        <p:spPr>
          <a:xfrm>
            <a:off x="5852160" y="4224528"/>
            <a:ext cx="365760" cy="256032"/>
          </a:xfrm>
          <a:prstGeom prst="chevron">
            <a:avLst/>
          </a:prstGeom>
          <a:solidFill>
            <a:srgbClr val="FFF9E6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3931920"/>
            <a:ext cx="5303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931920"/>
            <a:ext cx="82296" cy="1051560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4041648"/>
            <a:ext cx="504748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后果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后果：评分稳定性和解释可控性都会变差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40680"/>
            <a:ext cx="11000232" cy="749808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440680"/>
            <a:ext cx="82296" cy="749808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550408"/>
            <a:ext cx="107442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结论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所以我在 preprocess 阶段做的事情，不是普通清洗，而是提前把“内容证据”和“风格证据”显式资产化。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EE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601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E2A46"/>
                </a:solidFill>
                <a:latin typeface="Microsoft YaHei"/>
              </a:defRPr>
            </a:pPr>
            <a:r>
              <a:t>ODCR 预处理阶段：从“清洗数据”变成“构造证据资产”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9966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总图一页看完整链路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329184"/>
            <a:ext cx="932688" cy="310896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F4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24744" y="338328"/>
            <a:ext cx="877824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06/13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20116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82296" cy="2834640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938528"/>
            <a:ext cx="1755648" cy="2651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900" b="1" i="0">
                <a:solidFill>
                  <a:srgbClr val="1E2A46"/>
                </a:solidFill>
                <a:latin typeface="Microsoft YaHei"/>
              </a:defRPr>
            </a:pPr>
            <a:r>
              <a:t>原始样本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user / item / rating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review / explanation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domain</a:t>
            </a:r>
          </a:p>
        </p:txBody>
      </p:sp>
      <p:sp>
        <p:nvSpPr>
          <p:cNvPr id="13" name="Chevron 12"/>
          <p:cNvSpPr/>
          <p:nvPr/>
        </p:nvSpPr>
        <p:spPr>
          <a:xfrm>
            <a:off x="2560320" y="2816352"/>
            <a:ext cx="320040" cy="256032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80" y="1828800"/>
            <a:ext cx="2103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0" y="1828800"/>
            <a:ext cx="82296" cy="2834640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0672" y="1938528"/>
            <a:ext cx="1847088" cy="2651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900" b="1" i="0">
                <a:solidFill>
                  <a:srgbClr val="1E2A46"/>
                </a:solidFill>
                <a:latin typeface="Microsoft YaHei"/>
              </a:defRPr>
            </a:pPr>
            <a:r>
              <a:t>证据锚定预处理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content anchor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style anchor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quality + route prior</a:t>
            </a:r>
          </a:p>
        </p:txBody>
      </p:sp>
      <p:sp>
        <p:nvSpPr>
          <p:cNvPr id="17" name="Chevron 16"/>
          <p:cNvSpPr/>
          <p:nvPr/>
        </p:nvSpPr>
        <p:spPr>
          <a:xfrm>
            <a:off x="5074920" y="2816352"/>
            <a:ext cx="320040" cy="256032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40680" y="1828800"/>
            <a:ext cx="36576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680" y="1828800"/>
            <a:ext cx="82296" cy="2834640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5272" y="1938528"/>
            <a:ext cx="3401568" cy="2651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900" b="1" i="0">
                <a:solidFill>
                  <a:srgbClr val="1E2A46"/>
                </a:solidFill>
                <a:latin typeface="Microsoft YaHei"/>
              </a:defRPr>
            </a:pPr>
            <a:r>
              <a:t>新增锚点字段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content_keywords / aspects / entities / score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style_markers / template / sentiment / domain_style_id / score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evidence_quality / route_scorer / route_explainer</a:t>
            </a:r>
          </a:p>
        </p:txBody>
      </p:sp>
      <p:sp>
        <p:nvSpPr>
          <p:cNvPr id="21" name="Chevron 20"/>
          <p:cNvSpPr/>
          <p:nvPr/>
        </p:nvSpPr>
        <p:spPr>
          <a:xfrm>
            <a:off x="9144000" y="2816352"/>
            <a:ext cx="320040" cy="256032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09760" y="1828800"/>
            <a:ext cx="18288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1828800"/>
            <a:ext cx="82296" cy="2834640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1938528"/>
            <a:ext cx="1572768" cy="2651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900" b="1" i="0">
                <a:solidFill>
                  <a:srgbClr val="1E2A46"/>
                </a:solidFill>
                <a:latin typeface="Microsoft YaHei"/>
              </a:defRPr>
            </a:pPr>
            <a:r>
              <a:t>双通道资产构建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content channel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style channel</a:t>
            </a:r>
          </a:p>
        </p:txBody>
      </p:sp>
      <p:sp>
        <p:nvSpPr>
          <p:cNvPr id="25" name="Chevron 24"/>
          <p:cNvSpPr/>
          <p:nvPr/>
        </p:nvSpPr>
        <p:spPr>
          <a:xfrm>
            <a:off x="11384280" y="2816352"/>
            <a:ext cx="320040" cy="256032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750040" y="1828800"/>
            <a:ext cx="14630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750040" y="1828800"/>
            <a:ext cx="82296" cy="2834640"/>
          </a:xfrm>
          <a:prstGeom prst="rect">
            <a:avLst/>
          </a:prstGeom>
          <a:solidFill>
            <a:srgbClr val="D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914632" y="1938528"/>
            <a:ext cx="1207008" cy="2651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900" b="1" i="0">
                <a:solidFill>
                  <a:srgbClr val="1E2A46"/>
                </a:solidFill>
                <a:latin typeface="Microsoft YaHei"/>
              </a:defRPr>
            </a:pPr>
            <a:r>
              <a:t>供 Step3 使用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shared / specific disentanglement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074920"/>
            <a:ext cx="10881360" cy="841248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5074920"/>
            <a:ext cx="82296" cy="841248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5184648"/>
            <a:ext cx="10625328" cy="6583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核心结论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根据审计，ODCR 的 preprocess 已经真实新增了一批显式锚点字段，这些字段会被 split / combine / embeddings / domain semantics / Step3 / Step5 继续消费。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EA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FFF2EC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601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E2A46"/>
                </a:solidFill>
                <a:latin typeface="Microsoft YaHei"/>
              </a:defRPr>
            </a:pPr>
            <a:r>
              <a:t>新增字段可以分为两类：内容锚点 与 风格锚点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9966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把字段、作用和说法边界同时讲清楚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329184"/>
            <a:ext cx="932688" cy="310896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24744" y="338328"/>
            <a:ext cx="877824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07/13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1353312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/>
                <a:gridCol w="3621024"/>
                <a:gridCol w="4937760"/>
              </a:tblGrid>
              <a:tr h="32004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EA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内容锚点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content_keywords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抽取核心内容词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内容锚点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content_aspects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提取 item aspect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内容锚点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content_entities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保留实体信息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内容锚点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content_anchor_score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形成内容强度分数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风格锚点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style_markers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提取风格信号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风格锚点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template_family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句式模板类别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风格锚点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sentiment_style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评价语气 / 极性风格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风格锚点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length_style_bucket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长度风格桶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风格锚点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domain_style_id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域风格标识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风格锚点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style_anchor_score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风格强度分数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辅助字段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evidence_quality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证据质量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辅助字段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route_scorer / route_explainer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路由先验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13232" y="5577840"/>
            <a:ext cx="10972800" cy="603504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5577840"/>
            <a:ext cx="82296" cy="603504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687568"/>
            <a:ext cx="10716768" cy="42062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1E2A46"/>
                </a:solidFill>
                <a:latin typeface="Microsoft YaHei"/>
              </a:defRPr>
            </a:pPr>
            <a:r>
              <a:t>表达边界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当前最稳的说法是“启发式证据锚定”，不要写成已经完成完整的强语义闭环。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EE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F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F4F1FF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601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E2A46"/>
                </a:solidFill>
                <a:latin typeface="Microsoft YaHei"/>
              </a:defRPr>
            </a:pPr>
            <a:r>
              <a:t>预处理阶段的形式化表达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9966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这页给老师一个“不是纯工程”的信号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329184"/>
            <a:ext cx="932688" cy="310896"/>
          </a:xfrm>
          <a:prstGeom prst="roundRect">
            <a:avLst/>
          </a:prstGeom>
          <a:solidFill>
            <a:srgbClr val="EEFBF7"/>
          </a:solidFill>
          <a:ln w="12700">
            <a:solidFill>
              <a:srgbClr val="EE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24744" y="338328"/>
            <a:ext cx="877824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08/13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444752"/>
            <a:ext cx="33832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444752"/>
            <a:ext cx="82296" cy="3429000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554480"/>
            <a:ext cx="3127248" cy="3246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900" b="1" i="0">
                <a:solidFill>
                  <a:srgbClr val="1E2A46"/>
                </a:solidFill>
                <a:latin typeface="Microsoft YaHei"/>
              </a:defRPr>
            </a:pPr>
            <a:r>
              <a:t>1. 原始样本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x = (u, i, r, review, exp, d)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u: user    i: item    r: rating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exp: explanation    d: domain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44752"/>
            <a:ext cx="3657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44752"/>
            <a:ext cx="82296" cy="3429000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554480"/>
            <a:ext cx="3401568" cy="3246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900" b="1" i="0">
                <a:solidFill>
                  <a:srgbClr val="1E2A46"/>
                </a:solidFill>
                <a:latin typeface="Microsoft YaHei"/>
              </a:defRPr>
            </a:pPr>
            <a:r>
              <a:t>2. 内容 / 风格锚点映射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A_c(x) = ContentAnchor(x)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A_s(x) = StyleAnchor(x)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A_c(x) = {content_keywords, content_aspects, content_entities, content_anchor_score}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A_s(x) = {style_markers, template_family, sentiment_style, domain_style_id, style_anchor_score}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444752"/>
            <a:ext cx="33832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444752"/>
            <a:ext cx="82296" cy="3429000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554480"/>
            <a:ext cx="3127248" cy="3246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900" b="1" i="0">
                <a:solidFill>
                  <a:srgbClr val="1E2A46"/>
                </a:solidFill>
                <a:latin typeface="Microsoft YaHei"/>
              </a:defRPr>
            </a:pPr>
            <a:r>
              <a:t>3. 增强后的样本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x~ = (x, A_c(x), A_s(x), q(x), ρ(x))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q(x): evidence quality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ρ(x): route prior, 例如 scorer / explainer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5257800"/>
            <a:ext cx="10972800" cy="749808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5257800"/>
            <a:ext cx="82296" cy="749808"/>
          </a:xfrm>
          <a:prstGeom prst="rect">
            <a:avLst/>
          </a:prstGeom>
          <a:solidFill>
            <a:srgbClr val="D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367528"/>
            <a:ext cx="10716768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落点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也就是说，我不是只保留原样本，而是把样本扩展为“带证据锚点的增强样本”。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EAF6FF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601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E2A46"/>
                </a:solidFill>
                <a:latin typeface="Microsoft YaHei"/>
              </a:defRPr>
            </a:pPr>
            <a:r>
              <a:t>代码层面的真实落地证据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9966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这一页把“不是空想设计”讲明白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329184"/>
            <a:ext cx="932688" cy="310896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FFF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24744" y="338328"/>
            <a:ext cx="877824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09/13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1732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417320"/>
            <a:ext cx="82296" cy="4206240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27048"/>
            <a:ext cx="3172968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900" b="1" i="0">
                <a:solidFill>
                  <a:srgbClr val="1E2A46"/>
                </a:solidFill>
                <a:latin typeface="Microsoft YaHei"/>
              </a:defRPr>
            </a:pPr>
            <a:r>
              <a:t>1. 预处理落地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code/preprocess_data.py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_build_odcr_anchors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写出 content_keywords / content_aspects / content_entities / content_anchor_score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写出 style_markers / template_family / sentiment_style / length_style_bucket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写出 domain_style_id / style_anchor_score / evidence_quality / route_scorer / route_explainer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7" y="141732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7" y="1417320"/>
            <a:ext cx="82296" cy="4206240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1527048"/>
            <a:ext cx="3172968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900" b="1" i="0">
                <a:solidFill>
                  <a:srgbClr val="1E2A46"/>
                </a:solidFill>
                <a:latin typeface="Microsoft YaHei"/>
              </a:defRPr>
            </a:pPr>
            <a:r>
              <a:t>2. 字段保真传递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code/split_data.py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code/combine_data.py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作用不是创新本身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但保证双域数据与锚点字段不会在中间丢失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41732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417320"/>
            <a:ext cx="82296" cy="4206240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527048"/>
            <a:ext cx="3172968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900" b="1" i="0">
                <a:solidFill>
                  <a:srgbClr val="1E2A46"/>
                </a:solidFill>
                <a:latin typeface="Microsoft YaHei"/>
              </a:defRPr>
            </a:pPr>
            <a:r>
              <a:t>3. 下游真实消费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code/compute_embeddings.py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生成 user_content_profiles.npy / user_style_profiles.npy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生成 item_content_profiles.npy / item_style_profiles.npy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code/infer_domain_semantics.py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生成 domain_content.npy / domain_style.npy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32120"/>
            <a:ext cx="10972800" cy="64008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5532120"/>
            <a:ext cx="82296" cy="640080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41848"/>
            <a:ext cx="10716768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600" b="1" i="0">
                <a:solidFill>
                  <a:srgbClr val="1E2A46"/>
                </a:solidFill>
                <a:latin typeface="Microsoft YaHei"/>
              </a:defRPr>
            </a:pPr>
            <a:r>
              <a:t>结论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因此 preprocess 不是孤立字段堆砌，而是形成了下游真的会消费的双通道资产。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F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EA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EEFBF7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601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E2A46"/>
                </a:solidFill>
                <a:latin typeface="Microsoft YaHei"/>
              </a:defRPr>
            </a:pPr>
            <a:r>
              <a:t>实际例子：一条样本如何被预处理成“内容 / 风格双通道资产”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9966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这一页是最直观、最适合讲给老师看的例子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329184"/>
            <a:ext cx="932688" cy="310896"/>
          </a:xfrm>
          <a:prstGeom prst="roundRect">
            <a:avLst/>
          </a:prstGeom>
          <a:solidFill>
            <a:srgbClr val="FFF2EC"/>
          </a:solidFill>
          <a:ln w="12700">
            <a:solidFill>
              <a:srgbClr val="F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24744" y="338328"/>
            <a:ext cx="877824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10/13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34440"/>
            <a:ext cx="10972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234440"/>
            <a:ext cx="82296" cy="822960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44168"/>
            <a:ext cx="10716768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样本输入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Review / Explanation: "The rooms are spacious and the bathroom is a large tub."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2331720"/>
          <a:ext cx="571500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86200"/>
              </a:tblGrid>
              <a:tr h="260604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抽取结果</a:t>
                      </a:r>
                    </a:p>
                  </a:txBody>
                  <a:tcPr>
                    <a:solidFill>
                      <a:srgbClr val="EAF6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内容关键词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rooms, bathroom, tub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内容 aspect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room size, bathroom facility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内容实体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room / bathroom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内容分数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0.82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风格标记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positive descriptive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模板类型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opinion + attribute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情感风格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positive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长度桶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short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域风格 ID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travel-domain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风格分数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0.67</a:t>
                      </a:r>
                    </a:p>
                  </a:txBody>
                  <a:tcPr marL="76200" marR="76200" marT="50800" marB="50800">
                    <a:solidFill>
                      <a:srgbClr val="F1F7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证据质量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A46"/>
                          </a:solidFill>
                          <a:latin typeface="Microsoft YaHei"/>
                        </a:defRPr>
                      </a:pPr>
                      <a:r>
                        <a:t>high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583680" y="2331720"/>
            <a:ext cx="504748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2331720"/>
            <a:ext cx="82296" cy="1051560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2" y="2441448"/>
            <a:ext cx="4791456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同一内容，不同风格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"The room is spacious."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"Absolutely loved the roomy feel."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"Rooms are quite large for the price."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611880"/>
            <a:ext cx="5047488" cy="86868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611880"/>
            <a:ext cx="82296" cy="868680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3721608"/>
            <a:ext cx="4791456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内容通道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回答“说了什么”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590288"/>
            <a:ext cx="5047488" cy="86868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590288"/>
            <a:ext cx="82296" cy="868680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4700016"/>
            <a:ext cx="4791456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700" b="1" i="0">
                <a:solidFill>
                  <a:srgbClr val="1E2A46"/>
                </a:solidFill>
                <a:latin typeface="Microsoft YaHei"/>
              </a:defRPr>
            </a:pPr>
            <a:r>
              <a:t>风格通道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回答“怎么说”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972800" cy="54864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82296" cy="548640"/>
          </a:xfrm>
          <a:prstGeom prst="rect">
            <a:avLst/>
          </a:prstGeom>
          <a:solidFill>
            <a:srgbClr val="D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687568"/>
            <a:ext cx="1071676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1E2A46"/>
                </a:solidFill>
                <a:latin typeface="Microsoft YaHei"/>
              </a:defRPr>
            </a:pPr>
            <a:r>
              <a:t>落点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只有先把内容与风格拆成双通道资产，后面 Step3 才有可能把 shared / specific 分开学。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F4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EE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FFF9E6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601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E2A46"/>
                </a:solidFill>
                <a:latin typeface="Microsoft YaHei"/>
              </a:defRPr>
            </a:pPr>
            <a:r>
              <a:t>预处理不是终点，而是 Step3 的输入前提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9966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这页把承接关系讲清楚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329184"/>
            <a:ext cx="932688" cy="310896"/>
          </a:xfrm>
          <a:prstGeom prst="roundRect">
            <a:avLst/>
          </a:prstGeom>
          <a:solidFill>
            <a:srgbClr val="F4F1FF"/>
          </a:solidFill>
          <a:ln w="12700">
            <a:solidFill>
              <a:srgbClr val="F4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24744" y="338328"/>
            <a:ext cx="877824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11/13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325880"/>
            <a:ext cx="9966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1325880"/>
            <a:ext cx="82296" cy="868680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1435608"/>
            <a:ext cx="9710928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Preprocess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显式锚点字段构建</a:t>
            </a:r>
          </a:p>
        </p:txBody>
      </p:sp>
      <p:sp>
        <p:nvSpPr>
          <p:cNvPr id="13" name="Chevron 12"/>
          <p:cNvSpPr/>
          <p:nvPr/>
        </p:nvSpPr>
        <p:spPr>
          <a:xfrm>
            <a:off x="5897880" y="2267712"/>
            <a:ext cx="384048" cy="201168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2487168"/>
            <a:ext cx="9966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487168"/>
            <a:ext cx="82296" cy="868680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2596896"/>
            <a:ext cx="9710928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split / combine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字段保真</a:t>
            </a:r>
          </a:p>
        </p:txBody>
      </p:sp>
      <p:sp>
        <p:nvSpPr>
          <p:cNvPr id="17" name="Chevron 16"/>
          <p:cNvSpPr/>
          <p:nvPr/>
        </p:nvSpPr>
        <p:spPr>
          <a:xfrm>
            <a:off x="5897880" y="3429000"/>
            <a:ext cx="384048" cy="201168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3648456"/>
            <a:ext cx="9966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648456"/>
            <a:ext cx="82296" cy="1097280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1872" y="3758184"/>
            <a:ext cx="9710928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compute_embeddings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user_content_profiles.npy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user_style_profiles.npy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item_content_profiles.npy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item_style_profiles.npy</a:t>
            </a:r>
          </a:p>
        </p:txBody>
      </p:sp>
      <p:sp>
        <p:nvSpPr>
          <p:cNvPr id="21" name="Chevron 20"/>
          <p:cNvSpPr/>
          <p:nvPr/>
        </p:nvSpPr>
        <p:spPr>
          <a:xfrm>
            <a:off x="5897880" y="4818888"/>
            <a:ext cx="384048" cy="201168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5038344"/>
            <a:ext cx="9966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5038344"/>
            <a:ext cx="82296" cy="868680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1872" y="5148072"/>
            <a:ext cx="9710928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infer_domain_semantics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domain_content.npy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domain_style.npy</a:t>
            </a:r>
          </a:p>
        </p:txBody>
      </p:sp>
      <p:sp>
        <p:nvSpPr>
          <p:cNvPr id="25" name="Chevron 24"/>
          <p:cNvSpPr/>
          <p:nvPr/>
        </p:nvSpPr>
        <p:spPr>
          <a:xfrm>
            <a:off x="5897880" y="5980176"/>
            <a:ext cx="384048" cy="201168"/>
          </a:xfrm>
          <a:prstGeom prst="chevron">
            <a:avLst/>
          </a:prstGeom>
          <a:solidFill>
            <a:srgbClr val="EAF6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7280" y="6199632"/>
            <a:ext cx="99669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6199632"/>
            <a:ext cx="82296" cy="868680"/>
          </a:xfrm>
          <a:prstGeom prst="rect">
            <a:avLst/>
          </a:prstGeom>
          <a:solidFill>
            <a:srgbClr val="D7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1872" y="6309360"/>
            <a:ext cx="9710928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Step3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shared / specific disentanglement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577840"/>
            <a:ext cx="10972800" cy="566928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577840"/>
            <a:ext cx="82296" cy="566928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5687568"/>
            <a:ext cx="10716768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1E2A46"/>
                </a:solidFill>
                <a:latin typeface="Microsoft YaHei"/>
              </a:defRPr>
            </a:pPr>
            <a:r>
              <a:t>关键信息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ODCR 预处理阶段的目标不是直接提升评分，而是为 Step3 的 shared 提供内容来源、为 specific 提供风格来源，并为后续解耦和路由建立数据基础。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EA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FFF2EC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601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E2A46"/>
                </a:solidFill>
                <a:latin typeface="Microsoft YaHei"/>
              </a:defRPr>
            </a:pPr>
            <a:r>
              <a:t>第一次汇报结论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9966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把这次工作的边界、价值和术语一次收住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329184"/>
            <a:ext cx="932688" cy="310896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EA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24744" y="338328"/>
            <a:ext cx="877824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12/13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349300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72768"/>
            <a:ext cx="82296" cy="3611880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82496"/>
            <a:ext cx="3236976" cy="3429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100" b="1" i="0">
                <a:solidFill>
                  <a:srgbClr val="1E2A46"/>
                </a:solidFill>
                <a:latin typeface="Microsoft YaHei"/>
              </a:defRPr>
            </a:pPr>
            <a:r>
              <a:t>结论 1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5D6B8A"/>
                </a:solidFill>
                <a:latin typeface="Microsoft YaHei"/>
              </a:defRPr>
            </a:pPr>
            <a:r>
              <a:t>相较于原始 D4C 的“文本清洗式预处理”，ODCR 已把 preprocess 升级为证据资产构建阶段。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1572768"/>
            <a:ext cx="349300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1" y="1572768"/>
            <a:ext cx="82296" cy="3611880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3" y="1682496"/>
            <a:ext cx="3236976" cy="3429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100" b="1" i="0">
                <a:solidFill>
                  <a:srgbClr val="1E2A46"/>
                </a:solidFill>
                <a:latin typeface="Microsoft YaHei"/>
              </a:defRPr>
            </a:pPr>
            <a:r>
              <a:t>结论 2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5D6B8A"/>
                </a:solidFill>
                <a:latin typeface="Microsoft YaHei"/>
              </a:defRPr>
            </a:pPr>
            <a:r>
              <a:t>当前代码里已经真实落地了显式锚点字段，以及 content/style 双通道的 user / item / domain 资产。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572768"/>
            <a:ext cx="349300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572768"/>
            <a:ext cx="82296" cy="3611880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682496"/>
            <a:ext cx="3236976" cy="3429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100" b="1" i="0">
                <a:solidFill>
                  <a:srgbClr val="1E2A46"/>
                </a:solidFill>
                <a:latin typeface="Microsoft YaHei"/>
              </a:defRPr>
            </a:pPr>
            <a:r>
              <a:t>结论 3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700" b="0" i="0">
                <a:solidFill>
                  <a:srgbClr val="5D6B8A"/>
                </a:solidFill>
                <a:latin typeface="Microsoft YaHei"/>
              </a:defRPr>
            </a:pPr>
            <a:r>
              <a:t>目前最稳的术语不是“完整 EASD / HSS 已闭环”，而是“启发式证据锚定与内容 / 风格双通道预处理资产构建”。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440680"/>
            <a:ext cx="10972800" cy="658368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5440680"/>
            <a:ext cx="82296" cy="658368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550408"/>
            <a:ext cx="10716768" cy="4754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600" b="1" i="0">
                <a:solidFill>
                  <a:srgbClr val="1E2A46"/>
                </a:solidFill>
                <a:latin typeface="Microsoft YaHei"/>
              </a:defRPr>
            </a:pPr>
            <a:r>
              <a:t>推荐收口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第一次工作的核心，不是训练更复杂的模型，而是把混杂文本整理成“内容可分、风格可分、域语义可分”的双通道证据资产。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594360"/>
            <a:ext cx="2834640" cy="2834640"/>
          </a:xfrm>
          <a:prstGeom prst="ellipse">
            <a:avLst/>
          </a:prstGeom>
          <a:solidFill>
            <a:srgbClr val="EE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5394960"/>
            <a:ext cx="2377440" cy="2377440"/>
          </a:xfrm>
          <a:prstGeom prst="ellipse">
            <a:avLst/>
          </a:prstGeom>
          <a:solidFill>
            <a:srgbClr val="F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5440680"/>
            <a:ext cx="2651760" cy="457200"/>
          </a:xfrm>
          <a:prstGeom prst="roundRect">
            <a:avLst/>
          </a:prstGeom>
          <a:solidFill>
            <a:srgbClr val="F4F1FF"/>
          </a:solidFill>
          <a:ln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96012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E2A46"/>
                </a:solidFill>
                <a:latin typeface="Microsoft YaHei"/>
              </a:defRPr>
            </a:pPr>
            <a:r>
              <a:t>下一步：Step3 的共享 / 特异结构化解耦训练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9966960" cy="3840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8A"/>
                </a:solidFill>
                <a:latin typeface="Microsoft YaHei"/>
              </a:defRPr>
            </a:pPr>
            <a:r>
              <a:t>把下一次汇报的期待点提前埋好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329184"/>
            <a:ext cx="932688" cy="310896"/>
          </a:xfrm>
          <a:prstGeom prst="roundRect">
            <a:avLst/>
          </a:prstGeom>
          <a:solidFill>
            <a:srgbClr val="EEFBF7"/>
          </a:solidFill>
          <a:ln w="12700">
            <a:solidFill>
              <a:srgbClr val="EE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24744" y="338328"/>
            <a:ext cx="877824" cy="2834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E2A46"/>
                </a:solidFill>
                <a:latin typeface="Microsoft YaHei"/>
              </a:defRPr>
            </a:pPr>
            <a:r>
              <a:t>13/13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17320"/>
            <a:ext cx="65379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417320"/>
            <a:ext cx="82296" cy="4069080"/>
          </a:xfrm>
          <a:prstGeom prst="rect">
            <a:avLst/>
          </a:prstGeom>
          <a:solidFill>
            <a:srgbClr val="7B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27048"/>
            <a:ext cx="6281928" cy="3886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 i="0">
                <a:solidFill>
                  <a:srgbClr val="1E2A46"/>
                </a:solidFill>
                <a:latin typeface="Microsoft YaHei"/>
              </a:defRPr>
            </a:pPr>
            <a:r>
              <a:t>下一次继续回答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这些内容 / 风格双通道资产，如何进入 shared / specific 分支？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Step3 的正交约束、shared invariance、specific separation 怎么实现？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600" b="0" i="0">
                <a:solidFill>
                  <a:srgbClr val="5D6B8A"/>
                </a:solidFill>
                <a:latin typeface="Microsoft YaHei"/>
              </a:defRPr>
            </a:pPr>
            <a:r>
              <a:t>为什么它比原始 D4C 的单主干 + adv 对齐更适合解释任务？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417320"/>
            <a:ext cx="41788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417320"/>
            <a:ext cx="82296" cy="1828800"/>
          </a:xfrm>
          <a:prstGeom prst="rect">
            <a:avLst/>
          </a:prstGeom>
          <a:solidFill>
            <a:srgbClr val="A7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1527048"/>
            <a:ext cx="3922776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建议关键词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Orthogonality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Shared Invariance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Specific Separation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Structure-aware Disentanglement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3456432"/>
            <a:ext cx="4178808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3456432"/>
            <a:ext cx="82296" cy="2029968"/>
          </a:xfrm>
          <a:prstGeom prst="rect">
            <a:avLst/>
          </a:prstGeom>
          <a:solidFill>
            <a:srgbClr val="FFE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3566160"/>
            <a:ext cx="3922776" cy="18470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800" b="1" i="0">
                <a:solidFill>
                  <a:srgbClr val="1E2A46"/>
                </a:solidFill>
                <a:latin typeface="Microsoft YaHei"/>
              </a:defRPr>
            </a:pPr>
            <a:r>
              <a:t>过渡句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这一轮先把“输入证据资产”站稳，下一轮再解释“模型为什么真的能分开”。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5D6B8A"/>
                </a:solidFill>
                <a:latin typeface="Microsoft YaHei"/>
              </a:defRPr>
            </a:pPr>
            <a:r>
              <a:t>这样逻辑最顺，也更符合当前代码与审计结论。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632704"/>
            <a:ext cx="10972800" cy="512064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7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5632704"/>
            <a:ext cx="82296" cy="512064"/>
          </a:xfrm>
          <a:prstGeom prst="rect">
            <a:avLst/>
          </a:prstGeom>
          <a:solidFill>
            <a:srgbClr val="FFC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742432"/>
            <a:ext cx="10716768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1E2A46"/>
                </a:solidFill>
                <a:latin typeface="Microsoft YaHei"/>
              </a:defRPr>
            </a:pPr>
            <a:r>
              <a:t>最终一句话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 i="0">
                <a:solidFill>
                  <a:srgbClr val="5D6B8A"/>
                </a:solidFill>
                <a:latin typeface="Microsoft YaHei"/>
              </a:defRPr>
            </a:pPr>
            <a:r>
              <a:t>先把证据锚定做好，再去讲 shared / specific 解耦，汇报链条会更稳、更亮。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ODCR Preprocess Bright Report</dc:title>
  <dc:subject>ODCR preprocess presentation generated from TXT outline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